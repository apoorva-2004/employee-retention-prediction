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14" r:id="rId3"/>
    <p:sldId id="674" r:id="rId4"/>
    <p:sldId id="713" r:id="rId5"/>
    <p:sldId id="712" r:id="rId6"/>
    <p:sldId id="715" r:id="rId7"/>
    <p:sldId id="718" r:id="rId8"/>
    <p:sldId id="720" r:id="rId9"/>
    <p:sldId id="723" r:id="rId10"/>
    <p:sldId id="724" r:id="rId11"/>
    <p:sldId id="725" r:id="rId12"/>
    <p:sldId id="721" r:id="rId13"/>
    <p:sldId id="726" r:id="rId14"/>
    <p:sldId id="729" r:id="rId15"/>
    <p:sldId id="727" r:id="rId16"/>
    <p:sldId id="711"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71" autoAdjust="0"/>
    <p:restoredTop sz="93447" autoAdjust="0"/>
  </p:normalViewPr>
  <p:slideViewPr>
    <p:cSldViewPr snapToGrid="0">
      <p:cViewPr varScale="1">
        <p:scale>
          <a:sx n="82" d="100"/>
          <a:sy n="82" d="100"/>
        </p:scale>
        <p:origin x="610" y="7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20-12-2025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EMPLOYEE RETENTION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4" name="Rectangle 1">
            <a:extLst>
              <a:ext uri="{FF2B5EF4-FFF2-40B4-BE49-F238E27FC236}">
                <a16:creationId xmlns:a16="http://schemas.microsoft.com/office/drawing/2014/main" id="{2BA04466-7C2B-B3F5-5237-81358A1923AB}"/>
              </a:ext>
            </a:extLst>
          </p:cNvPr>
          <p:cNvSpPr>
            <a:spLocks noGrp="1" noChangeArrowheads="1"/>
          </p:cNvSpPr>
          <p:nvPr>
            <p:ph idx="1"/>
          </p:nvPr>
        </p:nvSpPr>
        <p:spPr bwMode="auto">
          <a:xfrm>
            <a:off x="678884" y="1888949"/>
            <a:ext cx="962799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Introduction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Dataset Overview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Exploratory Data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Feature Engineering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Handling Class Imbalance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Model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Evaluation &amp;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1473612"/>
          </a:xfrm>
        </p:spPr>
        <p:txBody>
          <a:bodyPr/>
          <a:lstStyle/>
          <a:p>
            <a:r>
              <a:rPr lang="en-IN" dirty="0"/>
              <a:t>GOAL OF THE PROJECT</a:t>
            </a:r>
          </a:p>
        </p:txBody>
      </p:sp>
      <p:sp>
        <p:nvSpPr>
          <p:cNvPr id="5" name="Rectangle 2">
            <a:extLst>
              <a:ext uri="{FF2B5EF4-FFF2-40B4-BE49-F238E27FC236}">
                <a16:creationId xmlns:a16="http://schemas.microsoft.com/office/drawing/2014/main" id="{672B2BEF-BF1C-B356-E929-CEB54F6F3646}"/>
              </a:ext>
            </a:extLst>
          </p:cNvPr>
          <p:cNvSpPr>
            <a:spLocks noGrp="1" noChangeArrowheads="1"/>
          </p:cNvSpPr>
          <p:nvPr>
            <p:ph idx="1"/>
          </p:nvPr>
        </p:nvSpPr>
        <p:spPr bwMode="auto">
          <a:xfrm>
            <a:off x="679450" y="2320022"/>
            <a:ext cx="1080962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predict whether an employee will stay or leave the organization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analyze key factors influencing employee retention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help HR identify high-risk employees 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reduce attrition through data-driven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improve workforce stability and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build and compare multiple ML models for best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support organizations in making proactive retention strategies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678881" y="1399592"/>
            <a:ext cx="5107239" cy="4658310"/>
          </a:xfrm>
        </p:spPr>
        <p:txBody>
          <a:bodyPr>
            <a:normAutofit fontScale="92500" lnSpcReduction="20000"/>
          </a:bodyPr>
          <a:lstStyle/>
          <a:p>
            <a:r>
              <a:rPr lang="en-US" dirty="0"/>
              <a:t>Employee retention is one of the biggest challenges for modern organizations.</a:t>
            </a:r>
            <a:br>
              <a:rPr lang="en-US" dirty="0"/>
            </a:br>
            <a:r>
              <a:rPr lang="en-US" dirty="0"/>
              <a:t>High attrition leads to increased hiring costs, productivity loss, and reduced team stability.</a:t>
            </a:r>
            <a:br>
              <a:rPr lang="en-US" dirty="0"/>
            </a:br>
            <a:r>
              <a:rPr lang="en-US" dirty="0"/>
              <a:t>This project uses Machine Learning to predict whether an employee is likely to stay or leave based on demographic, educational, and professional factors.</a:t>
            </a:r>
            <a:br>
              <a:rPr lang="en-US" dirty="0"/>
            </a:br>
            <a:r>
              <a:rPr lang="en-US" dirty="0"/>
              <a:t>By identifying at-risk employees early, companies can take proactive steps to improve satisfaction and retention.</a:t>
            </a:r>
            <a:endParaRPr lang="en-IN" dirty="0"/>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IN" dirty="0"/>
              <a:t>DATASET DESCRIPTION</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normAutofit fontScale="55000" lnSpcReduction="20000"/>
          </a:bodyPr>
          <a:lstStyle/>
          <a:p>
            <a:r>
              <a:rPr lang="en-US" b="1" dirty="0" err="1"/>
              <a:t>enrollee_id</a:t>
            </a:r>
            <a:r>
              <a:rPr lang="en-US" dirty="0"/>
              <a:t>: Unique identifier for each enrollee  </a:t>
            </a:r>
          </a:p>
          <a:p>
            <a:r>
              <a:rPr lang="en-US" b="1" dirty="0"/>
              <a:t>city</a:t>
            </a:r>
            <a:r>
              <a:rPr lang="en-US" dirty="0"/>
              <a:t>: City code where the enrollee resides  </a:t>
            </a:r>
          </a:p>
          <a:p>
            <a:r>
              <a:rPr lang="en-US" dirty="0"/>
              <a:t> </a:t>
            </a:r>
            <a:r>
              <a:rPr lang="en-US" b="1" dirty="0" err="1"/>
              <a:t>city_development_index</a:t>
            </a:r>
            <a:r>
              <a:rPr lang="en-US" dirty="0"/>
              <a:t>: Development index of the city (higher = more developed)  </a:t>
            </a:r>
          </a:p>
          <a:p>
            <a:r>
              <a:rPr lang="en-US" dirty="0"/>
              <a:t> </a:t>
            </a:r>
            <a:r>
              <a:rPr lang="en-US" b="1" dirty="0"/>
              <a:t>gender</a:t>
            </a:r>
            <a:r>
              <a:rPr lang="en-US" dirty="0"/>
              <a:t>: Gender of the enrollee  </a:t>
            </a:r>
          </a:p>
          <a:p>
            <a:r>
              <a:rPr lang="en-US" dirty="0"/>
              <a:t> </a:t>
            </a:r>
            <a:r>
              <a:rPr lang="en-US" b="1" dirty="0" err="1"/>
              <a:t>relevent_experience</a:t>
            </a:r>
            <a:r>
              <a:rPr lang="en-US" dirty="0"/>
              <a:t>: Whether the enrollee has relevant work experience  </a:t>
            </a:r>
          </a:p>
          <a:p>
            <a:r>
              <a:rPr lang="en-US" dirty="0"/>
              <a:t> </a:t>
            </a:r>
            <a:r>
              <a:rPr lang="en-US" b="1" dirty="0" err="1"/>
              <a:t>enrolled_university</a:t>
            </a:r>
            <a:r>
              <a:rPr lang="en-US" dirty="0"/>
              <a:t>: Enrollment status in university (e.g., full-time, part-time, none)  </a:t>
            </a:r>
          </a:p>
          <a:p>
            <a:r>
              <a:rPr lang="en-US" dirty="0"/>
              <a:t> </a:t>
            </a:r>
            <a:r>
              <a:rPr lang="en-US" b="1" dirty="0" err="1"/>
              <a:t>education_level</a:t>
            </a:r>
            <a:r>
              <a:rPr lang="en-US" dirty="0"/>
              <a:t>: Highest education level attained  </a:t>
            </a:r>
          </a:p>
          <a:p>
            <a:r>
              <a:rPr lang="en-US" dirty="0"/>
              <a:t> </a:t>
            </a:r>
            <a:r>
              <a:rPr lang="en-US" b="1" dirty="0" err="1"/>
              <a:t>major_discipline</a:t>
            </a:r>
            <a:r>
              <a:rPr lang="en-US" dirty="0"/>
              <a:t>: Field of study (e.g., STEM, Business)  </a:t>
            </a:r>
          </a:p>
          <a:p>
            <a:r>
              <a:rPr lang="en-US" dirty="0"/>
              <a:t> </a:t>
            </a:r>
            <a:r>
              <a:rPr lang="en-US" b="1" dirty="0"/>
              <a:t>experience</a:t>
            </a:r>
            <a:r>
              <a:rPr lang="en-US" dirty="0"/>
              <a:t>: Total years of professional experience  </a:t>
            </a:r>
          </a:p>
          <a:p>
            <a:r>
              <a:rPr lang="en-US" dirty="0"/>
              <a:t> </a:t>
            </a:r>
            <a:r>
              <a:rPr lang="en-US" b="1" dirty="0" err="1"/>
              <a:t>company_size</a:t>
            </a:r>
            <a:r>
              <a:rPr lang="en-US" dirty="0"/>
              <a:t>: Size of the last company worked at  </a:t>
            </a:r>
          </a:p>
          <a:p>
            <a:r>
              <a:rPr lang="en-US" dirty="0"/>
              <a:t> </a:t>
            </a:r>
            <a:r>
              <a:rPr lang="en-US" b="1" dirty="0" err="1"/>
              <a:t>company_type</a:t>
            </a:r>
            <a:r>
              <a:rPr lang="en-US" dirty="0"/>
              <a:t>: Type of company (e.g., Pvt Ltd, Funded Startup)  </a:t>
            </a:r>
          </a:p>
          <a:p>
            <a:r>
              <a:rPr lang="en-US" dirty="0"/>
              <a:t> </a:t>
            </a:r>
            <a:r>
              <a:rPr lang="en-US" b="1" dirty="0" err="1"/>
              <a:t>last_new_job</a:t>
            </a:r>
            <a:r>
              <a:rPr lang="en-US" dirty="0"/>
              <a:t>: Time since last job change  </a:t>
            </a:r>
          </a:p>
          <a:p>
            <a:r>
              <a:rPr lang="en-US" dirty="0"/>
              <a:t> </a:t>
            </a:r>
            <a:r>
              <a:rPr lang="en-US" b="1" dirty="0" err="1"/>
              <a:t>training_hours</a:t>
            </a:r>
            <a:r>
              <a:rPr lang="en-US" dirty="0"/>
              <a:t>: Number of training hours completed  </a:t>
            </a:r>
          </a:p>
          <a:p>
            <a:r>
              <a:rPr lang="en-US" b="1" dirty="0"/>
              <a:t>target:</a:t>
            </a:r>
            <a:r>
              <a:rPr lang="en-US" dirty="0"/>
              <a:t> Binary label (1 = employee retained, 0 = employee left)</a:t>
            </a:r>
          </a:p>
          <a:p>
            <a:endParaRPr lang="en-IN" dirty="0"/>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75B6-52E1-A800-8A73-35E668598AF3}"/>
              </a:ext>
            </a:extLst>
          </p:cNvPr>
          <p:cNvSpPr>
            <a:spLocks noGrp="1"/>
          </p:cNvSpPr>
          <p:nvPr>
            <p:ph type="title"/>
          </p:nvPr>
        </p:nvSpPr>
        <p:spPr/>
        <p:txBody>
          <a:bodyPr/>
          <a:lstStyle/>
          <a:p>
            <a:r>
              <a:rPr lang="en-IN" dirty="0"/>
              <a:t>DATA PREPROSESSING</a:t>
            </a:r>
          </a:p>
        </p:txBody>
      </p:sp>
      <p:sp>
        <p:nvSpPr>
          <p:cNvPr id="3" name="Content Placeholder 2">
            <a:extLst>
              <a:ext uri="{FF2B5EF4-FFF2-40B4-BE49-F238E27FC236}">
                <a16:creationId xmlns:a16="http://schemas.microsoft.com/office/drawing/2014/main" id="{4E855E7A-74D7-6677-1089-DA132DC5C748}"/>
              </a:ext>
            </a:extLst>
          </p:cNvPr>
          <p:cNvSpPr>
            <a:spLocks noGrp="1"/>
          </p:cNvSpPr>
          <p:nvPr>
            <p:ph idx="1"/>
          </p:nvPr>
        </p:nvSpPr>
        <p:spPr/>
        <p:txBody>
          <a:bodyPr>
            <a:normAutofit fontScale="47500" lnSpcReduction="20000"/>
          </a:bodyPr>
          <a:lstStyle/>
          <a:p>
            <a:r>
              <a:rPr lang="en-US" dirty="0"/>
              <a:t>Loaded train and test datasets and checked size using shape</a:t>
            </a:r>
          </a:p>
          <a:p>
            <a:endParaRPr lang="en-US" dirty="0"/>
          </a:p>
          <a:p>
            <a:r>
              <a:rPr lang="en-US" dirty="0"/>
              <a:t>Reviewed data structure and types using info()</a:t>
            </a:r>
          </a:p>
          <a:p>
            <a:endParaRPr lang="en-US" dirty="0"/>
          </a:p>
          <a:p>
            <a:r>
              <a:rPr lang="en-US" dirty="0"/>
              <a:t>Checked missing values using </a:t>
            </a:r>
            <a:r>
              <a:rPr lang="en-US" dirty="0" err="1"/>
              <a:t>isnull</a:t>
            </a:r>
            <a:r>
              <a:rPr lang="en-US" dirty="0"/>
              <a:t>().sum()</a:t>
            </a:r>
          </a:p>
          <a:p>
            <a:endParaRPr lang="en-US" dirty="0"/>
          </a:p>
          <a:p>
            <a:r>
              <a:rPr lang="en-US" dirty="0"/>
              <a:t>Analyzed statistical distribution using describe()</a:t>
            </a:r>
          </a:p>
          <a:p>
            <a:endParaRPr lang="en-US" dirty="0"/>
          </a:p>
          <a:p>
            <a:r>
              <a:rPr lang="en-US" dirty="0"/>
              <a:t>Cleaned experience column (&lt;1, &gt;20, 10+ → numeric) and filled missing values with median</a:t>
            </a:r>
          </a:p>
          <a:p>
            <a:endParaRPr lang="en-US" dirty="0"/>
          </a:p>
          <a:p>
            <a:r>
              <a:rPr lang="en-US" dirty="0"/>
              <a:t>Cleaned </a:t>
            </a:r>
            <a:r>
              <a:rPr lang="en-US" dirty="0" err="1"/>
              <a:t>last_new_job</a:t>
            </a:r>
            <a:r>
              <a:rPr lang="en-US" dirty="0"/>
              <a:t> column (never, &gt;4 → numeric) and filled missing values with median</a:t>
            </a:r>
          </a:p>
          <a:p>
            <a:endParaRPr lang="en-US" dirty="0"/>
          </a:p>
          <a:p>
            <a:r>
              <a:rPr lang="en-US" dirty="0"/>
              <a:t>Filled missing categorical values with "Unknown"</a:t>
            </a:r>
          </a:p>
          <a:p>
            <a:endParaRPr lang="en-US" dirty="0"/>
          </a:p>
          <a:p>
            <a:r>
              <a:rPr lang="en-US" dirty="0"/>
              <a:t>Revalidated data after cleaning for consistency</a:t>
            </a:r>
            <a:endParaRPr lang="en-IN" dirty="0"/>
          </a:p>
        </p:txBody>
      </p:sp>
    </p:spTree>
    <p:extLst>
      <p:ext uri="{BB962C8B-B14F-4D97-AF65-F5344CB8AC3E}">
        <p14:creationId xmlns:p14="http://schemas.microsoft.com/office/powerpoint/2010/main" val="197192876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C248-23EB-9891-44A3-B7060AD13B77}"/>
              </a:ext>
            </a:extLst>
          </p:cNvPr>
          <p:cNvSpPr>
            <a:spLocks noGrp="1"/>
          </p:cNvSpPr>
          <p:nvPr>
            <p:ph type="title"/>
          </p:nvPr>
        </p:nvSpPr>
        <p:spPr/>
        <p:txBody>
          <a:bodyPr/>
          <a:lstStyle/>
          <a:p>
            <a:r>
              <a:rPr lang="en-IN" dirty="0"/>
              <a:t>EXPLORATORY DATA ANALYSIS</a:t>
            </a:r>
          </a:p>
        </p:txBody>
      </p:sp>
      <p:sp>
        <p:nvSpPr>
          <p:cNvPr id="3" name="Content Placeholder 2">
            <a:extLst>
              <a:ext uri="{FF2B5EF4-FFF2-40B4-BE49-F238E27FC236}">
                <a16:creationId xmlns:a16="http://schemas.microsoft.com/office/drawing/2014/main" id="{0E72DA28-08A4-7419-43C8-3A8298401AF6}"/>
              </a:ext>
            </a:extLst>
          </p:cNvPr>
          <p:cNvSpPr>
            <a:spLocks noGrp="1"/>
          </p:cNvSpPr>
          <p:nvPr>
            <p:ph idx="1"/>
          </p:nvPr>
        </p:nvSpPr>
        <p:spPr/>
        <p:txBody>
          <a:bodyPr>
            <a:normAutofit fontScale="70000" lnSpcReduction="20000"/>
          </a:bodyPr>
          <a:lstStyle/>
          <a:p>
            <a:r>
              <a:rPr lang="en-US" dirty="0"/>
              <a:t>Target Analysis: Count of employees who stayed vs left.</a:t>
            </a:r>
          </a:p>
          <a:p>
            <a:endParaRPr lang="en-US" dirty="0"/>
          </a:p>
          <a:p>
            <a:r>
              <a:rPr lang="en-US" dirty="0"/>
              <a:t>Univariate Analysis: Distribution of numeric columns (experience, </a:t>
            </a:r>
            <a:r>
              <a:rPr lang="en-US" dirty="0" err="1"/>
              <a:t>training_hours</a:t>
            </a:r>
            <a:r>
              <a:rPr lang="en-US" dirty="0"/>
              <a:t>, </a:t>
            </a:r>
            <a:r>
              <a:rPr lang="en-US" dirty="0" err="1"/>
              <a:t>last_new_job</a:t>
            </a:r>
            <a:r>
              <a:rPr lang="en-US" dirty="0"/>
              <a:t>).</a:t>
            </a:r>
          </a:p>
          <a:p>
            <a:endParaRPr lang="en-US" dirty="0"/>
          </a:p>
          <a:p>
            <a:r>
              <a:rPr lang="en-US" dirty="0"/>
              <a:t>Bivariate Analysis: Relationship between features and target (e.g., </a:t>
            </a:r>
            <a:r>
              <a:rPr lang="en-US" dirty="0" err="1"/>
              <a:t>training_hours</a:t>
            </a:r>
            <a:r>
              <a:rPr lang="en-US" dirty="0"/>
              <a:t> vs target).</a:t>
            </a:r>
          </a:p>
          <a:p>
            <a:endParaRPr lang="en-US" dirty="0"/>
          </a:p>
          <a:p>
            <a:r>
              <a:rPr lang="en-US" dirty="0"/>
              <a:t>Correlation Analysis: Checked correlation among numeric features to understand relationships and multicollinearity.</a:t>
            </a:r>
          </a:p>
          <a:p>
            <a:endParaRPr lang="en-US" dirty="0"/>
          </a:p>
          <a:p>
            <a:r>
              <a:rPr lang="en-US" dirty="0"/>
              <a:t>Insights: Some features, like </a:t>
            </a:r>
            <a:r>
              <a:rPr lang="en-US" dirty="0" err="1"/>
              <a:t>training_hours</a:t>
            </a:r>
            <a:r>
              <a:rPr lang="en-US" dirty="0"/>
              <a:t>, may not strongly influence retention</a:t>
            </a:r>
            <a:endParaRPr lang="en-IN" dirty="0"/>
          </a:p>
        </p:txBody>
      </p:sp>
    </p:spTree>
    <p:extLst>
      <p:ext uri="{BB962C8B-B14F-4D97-AF65-F5344CB8AC3E}">
        <p14:creationId xmlns:p14="http://schemas.microsoft.com/office/powerpoint/2010/main" val="258507367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8902C-B1BA-F2A1-D6BD-22C00DF13D14}"/>
              </a:ext>
            </a:extLst>
          </p:cNvPr>
          <p:cNvSpPr>
            <a:spLocks noGrp="1"/>
          </p:cNvSpPr>
          <p:nvPr>
            <p:ph idx="1"/>
          </p:nvPr>
        </p:nvSpPr>
        <p:spPr/>
        <p:txBody>
          <a:bodyPr>
            <a:normAutofit fontScale="40000" lnSpcReduction="20000"/>
          </a:bodyPr>
          <a:lstStyle/>
          <a:p>
            <a:r>
              <a:rPr lang="en-US" b="1" dirty="0"/>
              <a:t>Dropped irrelevant features:</a:t>
            </a:r>
          </a:p>
          <a:p>
            <a:r>
              <a:rPr lang="en-US" b="1" dirty="0" err="1"/>
              <a:t>enrollee_id</a:t>
            </a:r>
            <a:r>
              <a:rPr lang="en-US" b="1" dirty="0"/>
              <a:t>, city, </a:t>
            </a:r>
            <a:r>
              <a:rPr lang="en-US" b="1" dirty="0" err="1"/>
              <a:t>company_type</a:t>
            </a:r>
            <a:r>
              <a:rPr lang="en-US" b="1" dirty="0"/>
              <a:t>, </a:t>
            </a:r>
            <a:r>
              <a:rPr lang="en-US" b="1" dirty="0" err="1"/>
              <a:t>company_size</a:t>
            </a:r>
            <a:r>
              <a:rPr lang="en-US" b="1" dirty="0"/>
              <a:t>, gender</a:t>
            </a:r>
          </a:p>
          <a:p>
            <a:endParaRPr lang="en-US" b="1" dirty="0"/>
          </a:p>
          <a:p>
            <a:r>
              <a:rPr lang="en-US" b="1" dirty="0"/>
              <a:t>Combined train and test datasets to ensure consistent encoding</a:t>
            </a:r>
          </a:p>
          <a:p>
            <a:endParaRPr lang="en-US" b="1" dirty="0"/>
          </a:p>
          <a:p>
            <a:r>
              <a:rPr lang="en-US" b="1" dirty="0"/>
              <a:t>Used helper column __</a:t>
            </a:r>
            <a:r>
              <a:rPr lang="en-US" b="1" dirty="0" err="1"/>
              <a:t>is_train</a:t>
            </a:r>
            <a:r>
              <a:rPr lang="en-US" b="1" dirty="0"/>
              <a:t> to separate data after encoding</a:t>
            </a:r>
          </a:p>
          <a:p>
            <a:endParaRPr lang="en-US" b="1" dirty="0"/>
          </a:p>
          <a:p>
            <a:r>
              <a:rPr lang="en-US" b="1" dirty="0"/>
              <a:t>Converted </a:t>
            </a:r>
            <a:r>
              <a:rPr lang="en-US" b="1" dirty="0" err="1"/>
              <a:t>relevent_experience</a:t>
            </a:r>
            <a:r>
              <a:rPr lang="en-US" b="1" dirty="0"/>
              <a:t> into numeric values (0 / 1)</a:t>
            </a:r>
          </a:p>
          <a:p>
            <a:endParaRPr lang="en-US" b="1" dirty="0"/>
          </a:p>
          <a:p>
            <a:r>
              <a:rPr lang="en-US" b="1" dirty="0"/>
              <a:t>Applied One-Hot Encoding to:</a:t>
            </a:r>
          </a:p>
          <a:p>
            <a:endParaRPr lang="en-US" b="1" dirty="0"/>
          </a:p>
          <a:p>
            <a:r>
              <a:rPr lang="en-US" b="1" dirty="0" err="1"/>
              <a:t>major_discipline</a:t>
            </a:r>
            <a:endParaRPr lang="en-US" b="1" dirty="0"/>
          </a:p>
          <a:p>
            <a:endParaRPr lang="en-US" b="1" dirty="0"/>
          </a:p>
          <a:p>
            <a:r>
              <a:rPr lang="en-US" b="1" dirty="0" err="1"/>
              <a:t>enrolled_university</a:t>
            </a:r>
            <a:endParaRPr lang="en-US" b="1" dirty="0"/>
          </a:p>
          <a:p>
            <a:endParaRPr lang="en-US" b="1" dirty="0"/>
          </a:p>
          <a:p>
            <a:r>
              <a:rPr lang="en-US" b="1" dirty="0" err="1"/>
              <a:t>education_level</a:t>
            </a:r>
            <a:endParaRPr lang="en-US" b="1" dirty="0"/>
          </a:p>
          <a:p>
            <a:endParaRPr lang="en-US" b="1" dirty="0"/>
          </a:p>
          <a:p>
            <a:r>
              <a:rPr lang="en-US" b="1" dirty="0"/>
              <a:t>Cleaned feature names to remove special characters</a:t>
            </a:r>
          </a:p>
          <a:p>
            <a:endParaRPr lang="en-US" b="1" dirty="0"/>
          </a:p>
          <a:p>
            <a:r>
              <a:rPr lang="en-US" b="1" dirty="0"/>
              <a:t>Split combined dataset back into train and test</a:t>
            </a:r>
          </a:p>
          <a:p>
            <a:endParaRPr lang="en-US" b="1" dirty="0"/>
          </a:p>
          <a:p>
            <a:r>
              <a:rPr lang="en-US" b="1" dirty="0"/>
              <a:t>Removed helper column after processing</a:t>
            </a:r>
            <a:endParaRPr lang="en-IN" b="1" dirty="0"/>
          </a:p>
        </p:txBody>
      </p:sp>
      <p:sp>
        <p:nvSpPr>
          <p:cNvPr id="2" name="Title 1">
            <a:extLst>
              <a:ext uri="{FF2B5EF4-FFF2-40B4-BE49-F238E27FC236}">
                <a16:creationId xmlns:a16="http://schemas.microsoft.com/office/drawing/2014/main" id="{4DDF0750-2C60-6BD8-E45A-C9A6A40467CB}"/>
              </a:ext>
            </a:extLst>
          </p:cNvPr>
          <p:cNvSpPr>
            <a:spLocks noGrp="1"/>
          </p:cNvSpPr>
          <p:nvPr>
            <p:ph type="title"/>
          </p:nvPr>
        </p:nvSpPr>
        <p:spPr/>
        <p:txBody>
          <a:bodyPr/>
          <a:lstStyle/>
          <a:p>
            <a:r>
              <a:rPr lang="en-IN" dirty="0"/>
              <a:t>FEATURE ENGINEERING</a:t>
            </a:r>
          </a:p>
        </p:txBody>
      </p:sp>
    </p:spTree>
    <p:extLst>
      <p:ext uri="{BB962C8B-B14F-4D97-AF65-F5344CB8AC3E}">
        <p14:creationId xmlns:p14="http://schemas.microsoft.com/office/powerpoint/2010/main" val="1051089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0A0A-407F-5745-C9C7-3516FA16C230}"/>
              </a:ext>
            </a:extLst>
          </p:cNvPr>
          <p:cNvSpPr>
            <a:spLocks noGrp="1"/>
          </p:cNvSpPr>
          <p:nvPr>
            <p:ph type="title"/>
          </p:nvPr>
        </p:nvSpPr>
        <p:spPr/>
        <p:txBody>
          <a:bodyPr/>
          <a:lstStyle/>
          <a:p>
            <a:r>
              <a:rPr lang="en-IN" dirty="0"/>
              <a:t>TRAIN AND TEST SPLIT</a:t>
            </a:r>
          </a:p>
        </p:txBody>
      </p:sp>
      <p:sp>
        <p:nvSpPr>
          <p:cNvPr id="3" name="Content Placeholder 2">
            <a:extLst>
              <a:ext uri="{FF2B5EF4-FFF2-40B4-BE49-F238E27FC236}">
                <a16:creationId xmlns:a16="http://schemas.microsoft.com/office/drawing/2014/main" id="{5FDB6021-D519-BDE3-8F70-4F6C4D7A5D5D}"/>
              </a:ext>
            </a:extLst>
          </p:cNvPr>
          <p:cNvSpPr>
            <a:spLocks noGrp="1"/>
          </p:cNvSpPr>
          <p:nvPr>
            <p:ph idx="1"/>
          </p:nvPr>
        </p:nvSpPr>
        <p:spPr/>
        <p:txBody>
          <a:bodyPr>
            <a:normAutofit lnSpcReduction="10000"/>
          </a:bodyPr>
          <a:lstStyle/>
          <a:p>
            <a:r>
              <a:rPr lang="en-US" dirty="0"/>
              <a:t>Split the preprocessed dataset into training (80%) and validation (20%) sets.</a:t>
            </a:r>
          </a:p>
          <a:p>
            <a:endParaRPr lang="en-US" dirty="0"/>
          </a:p>
          <a:p>
            <a:r>
              <a:rPr lang="en-US" dirty="0"/>
              <a:t>Used stratified sampling to maintain the same proportion of target classes in both sets.</a:t>
            </a:r>
          </a:p>
          <a:p>
            <a:endParaRPr lang="en-US" dirty="0"/>
          </a:p>
          <a:p>
            <a:r>
              <a:rPr lang="en-US" dirty="0"/>
              <a:t>Ensures the model learns patterns from the train set and is evaluated on unseen data in the validation set.</a:t>
            </a:r>
            <a:endParaRPr lang="en-IN" dirty="0"/>
          </a:p>
        </p:txBody>
      </p:sp>
    </p:spTree>
    <p:extLst>
      <p:ext uri="{BB962C8B-B14F-4D97-AF65-F5344CB8AC3E}">
        <p14:creationId xmlns:p14="http://schemas.microsoft.com/office/powerpoint/2010/main" val="280343176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B355B-A961-8A9A-AFE3-BC5C48433A38}"/>
              </a:ext>
            </a:extLst>
          </p:cNvPr>
          <p:cNvSpPr>
            <a:spLocks noGrp="1"/>
          </p:cNvSpPr>
          <p:nvPr>
            <p:ph idx="1"/>
          </p:nvPr>
        </p:nvSpPr>
        <p:spPr/>
        <p:txBody>
          <a:bodyPr>
            <a:normAutofit fontScale="92500" lnSpcReduction="10000"/>
          </a:bodyPr>
          <a:lstStyle/>
          <a:p>
            <a:r>
              <a:rPr lang="en-US" dirty="0"/>
              <a:t>The target variable was imbalanced: 75% employees stayed, 25% left.</a:t>
            </a:r>
          </a:p>
          <a:p>
            <a:endParaRPr lang="en-US" dirty="0"/>
          </a:p>
          <a:p>
            <a:r>
              <a:rPr lang="en-US" dirty="0"/>
              <a:t>Applied SMOTE (Synthetic Minority Oversampling Technique) to generate synthetic samples for the minority class.</a:t>
            </a:r>
          </a:p>
          <a:p>
            <a:endParaRPr lang="en-US" dirty="0"/>
          </a:p>
          <a:p>
            <a:r>
              <a:rPr lang="en-US" dirty="0"/>
              <a:t>Balanced dataset improves model learning for both classes, especially predicting employees likely to leave.</a:t>
            </a:r>
          </a:p>
          <a:p>
            <a:endParaRPr lang="en-US" dirty="0"/>
          </a:p>
          <a:p>
            <a:r>
              <a:rPr lang="en-US" dirty="0"/>
              <a:t>After SMOTE, class distribution became roughly equal, helping models perform better on minority class.</a:t>
            </a:r>
            <a:endParaRPr lang="en-IN" dirty="0"/>
          </a:p>
        </p:txBody>
      </p:sp>
      <p:sp>
        <p:nvSpPr>
          <p:cNvPr id="2" name="Title 1">
            <a:extLst>
              <a:ext uri="{FF2B5EF4-FFF2-40B4-BE49-F238E27FC236}">
                <a16:creationId xmlns:a16="http://schemas.microsoft.com/office/drawing/2014/main" id="{0D89D550-6AED-3578-E9C9-A9AD1C313A52}"/>
              </a:ext>
            </a:extLst>
          </p:cNvPr>
          <p:cNvSpPr>
            <a:spLocks noGrp="1"/>
          </p:cNvSpPr>
          <p:nvPr>
            <p:ph type="title"/>
          </p:nvPr>
        </p:nvSpPr>
        <p:spPr/>
        <p:txBody>
          <a:bodyPr/>
          <a:lstStyle/>
          <a:p>
            <a:r>
              <a:rPr lang="en-IN" dirty="0"/>
              <a:t>HANDING IMBALANCED DATA(SMOTE)</a:t>
            </a:r>
          </a:p>
        </p:txBody>
      </p:sp>
    </p:spTree>
    <p:extLst>
      <p:ext uri="{BB962C8B-B14F-4D97-AF65-F5344CB8AC3E}">
        <p14:creationId xmlns:p14="http://schemas.microsoft.com/office/powerpoint/2010/main" val="1026384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67BE-4D59-B3A9-0900-969764625636}"/>
              </a:ext>
            </a:extLst>
          </p:cNvPr>
          <p:cNvSpPr>
            <a:spLocks noGrp="1"/>
          </p:cNvSpPr>
          <p:nvPr>
            <p:ph type="title"/>
          </p:nvPr>
        </p:nvSpPr>
        <p:spPr/>
        <p:txBody>
          <a:bodyPr/>
          <a:lstStyle/>
          <a:p>
            <a:r>
              <a:rPr lang="en-IN" dirty="0"/>
              <a:t>FEATURE SCALING</a:t>
            </a:r>
          </a:p>
        </p:txBody>
      </p:sp>
      <p:sp>
        <p:nvSpPr>
          <p:cNvPr id="3" name="Content Placeholder 2">
            <a:extLst>
              <a:ext uri="{FF2B5EF4-FFF2-40B4-BE49-F238E27FC236}">
                <a16:creationId xmlns:a16="http://schemas.microsoft.com/office/drawing/2014/main" id="{87DBF41D-E983-420F-8FC9-F101EBF2E036}"/>
              </a:ext>
            </a:extLst>
          </p:cNvPr>
          <p:cNvSpPr>
            <a:spLocks noGrp="1"/>
          </p:cNvSpPr>
          <p:nvPr>
            <p:ph idx="1"/>
          </p:nvPr>
        </p:nvSpPr>
        <p:spPr/>
        <p:txBody>
          <a:bodyPr>
            <a:normAutofit fontScale="85000" lnSpcReduction="20000"/>
          </a:bodyPr>
          <a:lstStyle/>
          <a:p>
            <a:r>
              <a:rPr lang="en-US" dirty="0"/>
              <a:t>Standardized numeric features (like experience, </a:t>
            </a:r>
            <a:r>
              <a:rPr lang="en-US" dirty="0" err="1"/>
              <a:t>training_hours</a:t>
            </a:r>
            <a:r>
              <a:rPr lang="en-US" dirty="0"/>
              <a:t>, </a:t>
            </a:r>
            <a:r>
              <a:rPr lang="en-US" dirty="0" err="1"/>
              <a:t>last_new_job</a:t>
            </a:r>
            <a:r>
              <a:rPr lang="en-US" dirty="0"/>
              <a:t>) for models sensitive to feature magnitude.</a:t>
            </a:r>
          </a:p>
          <a:p>
            <a:endParaRPr lang="en-US" dirty="0"/>
          </a:p>
          <a:p>
            <a:r>
              <a:rPr lang="en-US" dirty="0"/>
              <a:t>Scaling ensures that all features contribute equally to the model.</a:t>
            </a:r>
          </a:p>
          <a:p>
            <a:endParaRPr lang="en-US" dirty="0"/>
          </a:p>
          <a:p>
            <a:r>
              <a:rPr lang="en-US" dirty="0"/>
              <a:t>Applied </a:t>
            </a:r>
            <a:r>
              <a:rPr lang="en-US" dirty="0" err="1"/>
              <a:t>StandardScaler</a:t>
            </a:r>
            <a:r>
              <a:rPr lang="en-US" dirty="0"/>
              <a:t> fitted on the training data (after SMOTE) and used the same scaler on validation data.</a:t>
            </a:r>
          </a:p>
          <a:p>
            <a:endParaRPr lang="en-US" dirty="0"/>
          </a:p>
          <a:p>
            <a:r>
              <a:rPr lang="en-US" dirty="0"/>
              <a:t>Essential for algorithms like Logistic Regression and SVM to perform optimally.</a:t>
            </a:r>
            <a:endParaRPr lang="en-IN" dirty="0"/>
          </a:p>
        </p:txBody>
      </p:sp>
    </p:spTree>
    <p:extLst>
      <p:ext uri="{BB962C8B-B14F-4D97-AF65-F5344CB8AC3E}">
        <p14:creationId xmlns:p14="http://schemas.microsoft.com/office/powerpoint/2010/main" val="4066898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A4615-D421-6AA1-1171-F9BF2AAAF384}"/>
              </a:ext>
            </a:extLst>
          </p:cNvPr>
          <p:cNvSpPr>
            <a:spLocks noGrp="1"/>
          </p:cNvSpPr>
          <p:nvPr>
            <p:ph type="title"/>
          </p:nvPr>
        </p:nvSpPr>
        <p:spPr/>
        <p:txBody>
          <a:bodyPr/>
          <a:lstStyle/>
          <a:p>
            <a:r>
              <a:rPr lang="en-IN" dirty="0"/>
              <a:t>MODEL TRAINING</a:t>
            </a:r>
          </a:p>
        </p:txBody>
      </p:sp>
      <p:sp>
        <p:nvSpPr>
          <p:cNvPr id="3" name="Content Placeholder 2">
            <a:extLst>
              <a:ext uri="{FF2B5EF4-FFF2-40B4-BE49-F238E27FC236}">
                <a16:creationId xmlns:a16="http://schemas.microsoft.com/office/drawing/2014/main" id="{28414ACC-508A-D1C5-07D9-4DBCB0522913}"/>
              </a:ext>
            </a:extLst>
          </p:cNvPr>
          <p:cNvSpPr>
            <a:spLocks noGrp="1"/>
          </p:cNvSpPr>
          <p:nvPr>
            <p:ph idx="1"/>
          </p:nvPr>
        </p:nvSpPr>
        <p:spPr/>
        <p:txBody>
          <a:bodyPr>
            <a:normAutofit fontScale="77500" lnSpcReduction="20000"/>
          </a:bodyPr>
          <a:lstStyle/>
          <a:p>
            <a:pPr marL="0" indent="0">
              <a:buNone/>
            </a:pPr>
            <a:r>
              <a:rPr lang="en-US" b="1" dirty="0"/>
              <a:t>Trained multiple machine learning models:</a:t>
            </a:r>
          </a:p>
          <a:p>
            <a:pPr marL="0" indent="0">
              <a:buNone/>
            </a:pPr>
            <a:endParaRPr lang="en-US" dirty="0"/>
          </a:p>
          <a:p>
            <a:r>
              <a:rPr lang="en-US" dirty="0"/>
              <a:t>Logistic Regression</a:t>
            </a:r>
          </a:p>
          <a:p>
            <a:endParaRPr lang="en-US" dirty="0"/>
          </a:p>
          <a:p>
            <a:r>
              <a:rPr lang="en-US" dirty="0"/>
              <a:t>Support Vector Machine (SVM)</a:t>
            </a:r>
          </a:p>
          <a:p>
            <a:endParaRPr lang="en-US" dirty="0"/>
          </a:p>
          <a:p>
            <a:r>
              <a:rPr lang="en-US" dirty="0"/>
              <a:t>Random Forest</a:t>
            </a:r>
          </a:p>
          <a:p>
            <a:endParaRPr lang="en-US" dirty="0"/>
          </a:p>
          <a:p>
            <a:r>
              <a:rPr lang="en-US" dirty="0" err="1"/>
              <a:t>XGBoost</a:t>
            </a:r>
            <a:endParaRPr lang="en-US" dirty="0"/>
          </a:p>
          <a:p>
            <a:endParaRPr lang="en-US" dirty="0"/>
          </a:p>
          <a:p>
            <a:r>
              <a:rPr lang="en-US" dirty="0"/>
              <a:t>Used scaled features for Logistic Regression and SVM; original features for tree-based models.</a:t>
            </a:r>
            <a:endParaRPr lang="en-IN" dirty="0"/>
          </a:p>
        </p:txBody>
      </p:sp>
    </p:spTree>
    <p:extLst>
      <p:ext uri="{BB962C8B-B14F-4D97-AF65-F5344CB8AC3E}">
        <p14:creationId xmlns:p14="http://schemas.microsoft.com/office/powerpoint/2010/main" val="2919136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5BC7F-7E00-01B5-5365-10C7B08BDC83}"/>
              </a:ext>
            </a:extLst>
          </p:cNvPr>
          <p:cNvSpPr>
            <a:spLocks noGrp="1"/>
          </p:cNvSpPr>
          <p:nvPr>
            <p:ph type="title"/>
          </p:nvPr>
        </p:nvSpPr>
        <p:spPr/>
        <p:txBody>
          <a:bodyPr/>
          <a:lstStyle/>
          <a:p>
            <a:r>
              <a:rPr lang="en-IN" dirty="0"/>
              <a:t>MODEL EVALUATION</a:t>
            </a:r>
          </a:p>
        </p:txBody>
      </p:sp>
      <p:sp>
        <p:nvSpPr>
          <p:cNvPr id="3" name="Content Placeholder 2">
            <a:extLst>
              <a:ext uri="{FF2B5EF4-FFF2-40B4-BE49-F238E27FC236}">
                <a16:creationId xmlns:a16="http://schemas.microsoft.com/office/drawing/2014/main" id="{465A6B80-F147-EB01-545F-4F01AC0678A2}"/>
              </a:ext>
            </a:extLst>
          </p:cNvPr>
          <p:cNvSpPr>
            <a:spLocks noGrp="1"/>
          </p:cNvSpPr>
          <p:nvPr>
            <p:ph idx="1"/>
          </p:nvPr>
        </p:nvSpPr>
        <p:spPr/>
        <p:txBody>
          <a:bodyPr>
            <a:normAutofit fontScale="70000" lnSpcReduction="20000"/>
          </a:bodyPr>
          <a:lstStyle/>
          <a:p>
            <a:pPr marL="0" indent="0">
              <a:buNone/>
            </a:pPr>
            <a:r>
              <a:rPr lang="en-US" b="1" dirty="0"/>
              <a:t>Evaluated models using:</a:t>
            </a:r>
          </a:p>
          <a:p>
            <a:pPr marL="0" indent="0">
              <a:buNone/>
            </a:pPr>
            <a:endParaRPr lang="en-US" dirty="0"/>
          </a:p>
          <a:p>
            <a:r>
              <a:rPr lang="en-US" dirty="0"/>
              <a:t>Accuracy</a:t>
            </a:r>
          </a:p>
          <a:p>
            <a:endParaRPr lang="en-US" dirty="0"/>
          </a:p>
          <a:p>
            <a:r>
              <a:rPr lang="en-US" dirty="0"/>
              <a:t>ROC-AUC score</a:t>
            </a:r>
          </a:p>
          <a:p>
            <a:pPr marL="0" indent="0">
              <a:buNone/>
            </a:pPr>
            <a:endParaRPr lang="en-US" dirty="0"/>
          </a:p>
          <a:p>
            <a:r>
              <a:rPr lang="en-US" dirty="0"/>
              <a:t>Plotted ROC curves to visually compare model performance.</a:t>
            </a:r>
          </a:p>
          <a:p>
            <a:endParaRPr lang="en-US" dirty="0"/>
          </a:p>
          <a:p>
            <a:r>
              <a:rPr lang="en-US" dirty="0" err="1"/>
              <a:t>XGBoost</a:t>
            </a:r>
            <a:r>
              <a:rPr lang="en-US" dirty="0"/>
              <a:t> performed the best with highest accuracy and AUC.</a:t>
            </a:r>
          </a:p>
          <a:p>
            <a:endParaRPr lang="en-US" dirty="0"/>
          </a:p>
          <a:p>
            <a:r>
              <a:rPr lang="en-US" dirty="0"/>
              <a:t>Analyzed feature importance (</a:t>
            </a:r>
            <a:r>
              <a:rPr lang="en-US" dirty="0" err="1"/>
              <a:t>XGBoost</a:t>
            </a:r>
            <a:r>
              <a:rPr lang="en-US" dirty="0"/>
              <a:t>) to identify key factors influencing employee retention.</a:t>
            </a:r>
            <a:endParaRPr lang="en-IN" dirty="0"/>
          </a:p>
        </p:txBody>
      </p:sp>
    </p:spTree>
    <p:extLst>
      <p:ext uri="{BB962C8B-B14F-4D97-AF65-F5344CB8AC3E}">
        <p14:creationId xmlns:p14="http://schemas.microsoft.com/office/powerpoint/2010/main" val="3327341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51A63-20EC-FA11-B25F-DD217CD980CF}"/>
              </a:ext>
            </a:extLst>
          </p:cNvPr>
          <p:cNvSpPr>
            <a:spLocks noGrp="1"/>
          </p:cNvSpPr>
          <p:nvPr>
            <p:ph type="title"/>
          </p:nvPr>
        </p:nvSpPr>
        <p:spPr/>
        <p:txBody>
          <a:bodyPr/>
          <a:lstStyle/>
          <a:p>
            <a:r>
              <a:rPr lang="en-US" dirty="0"/>
              <a:t>FEATURE IMPORTANCE</a:t>
            </a:r>
            <a:endParaRPr lang="en-IN" dirty="0"/>
          </a:p>
        </p:txBody>
      </p:sp>
      <p:sp>
        <p:nvSpPr>
          <p:cNvPr id="3" name="Content Placeholder 2">
            <a:extLst>
              <a:ext uri="{FF2B5EF4-FFF2-40B4-BE49-F238E27FC236}">
                <a16:creationId xmlns:a16="http://schemas.microsoft.com/office/drawing/2014/main" id="{D142CAC9-6DE1-B7C9-4561-330D61A0A3EE}"/>
              </a:ext>
            </a:extLst>
          </p:cNvPr>
          <p:cNvSpPr>
            <a:spLocks noGrp="1"/>
          </p:cNvSpPr>
          <p:nvPr>
            <p:ph idx="1"/>
          </p:nvPr>
        </p:nvSpPr>
        <p:spPr/>
        <p:txBody>
          <a:bodyPr>
            <a:normAutofit fontScale="70000" lnSpcReduction="20000"/>
          </a:bodyPr>
          <a:lstStyle/>
          <a:p>
            <a:r>
              <a:rPr lang="en-US" dirty="0"/>
              <a:t>Extracted feature importances from the </a:t>
            </a:r>
            <a:r>
              <a:rPr lang="en-US" b="1" dirty="0" err="1"/>
              <a:t>XGBoost</a:t>
            </a:r>
            <a:r>
              <a:rPr lang="en-US" b="1" dirty="0"/>
              <a:t> model</a:t>
            </a:r>
            <a:r>
              <a:rPr lang="en-US" dirty="0"/>
              <a:t> using </a:t>
            </a:r>
            <a:r>
              <a:rPr lang="en-US" dirty="0" err="1"/>
              <a:t>model_xgb.feature_importances</a:t>
            </a:r>
            <a:r>
              <a:rPr lang="en-US" dirty="0"/>
              <a:t>_.</a:t>
            </a:r>
          </a:p>
          <a:p>
            <a:r>
              <a:rPr lang="en-US" dirty="0"/>
              <a:t>Created a </a:t>
            </a:r>
            <a:r>
              <a:rPr lang="en-US" dirty="0" err="1"/>
              <a:t>DataFrame</a:t>
            </a:r>
            <a:r>
              <a:rPr lang="en-US" dirty="0"/>
              <a:t> to list each </a:t>
            </a:r>
            <a:r>
              <a:rPr lang="en-US" b="1" dirty="0"/>
              <a:t>feature</a:t>
            </a:r>
            <a:r>
              <a:rPr lang="en-US" dirty="0"/>
              <a:t> along with its </a:t>
            </a:r>
            <a:r>
              <a:rPr lang="en-US" b="1" dirty="0"/>
              <a:t>importance score</a:t>
            </a:r>
            <a:r>
              <a:rPr lang="en-US" dirty="0"/>
              <a:t>.</a:t>
            </a:r>
          </a:p>
          <a:p>
            <a:r>
              <a:rPr lang="en-US" dirty="0"/>
              <a:t>Visualized the top contributing features using a </a:t>
            </a:r>
            <a:r>
              <a:rPr lang="en-US" b="1" dirty="0"/>
              <a:t>bar plot</a:t>
            </a:r>
            <a:r>
              <a:rPr lang="en-US" dirty="0"/>
              <a:t> to clearly show which factors most influence employee retention.</a:t>
            </a:r>
          </a:p>
          <a:p>
            <a:r>
              <a:rPr lang="en-US" dirty="0"/>
              <a:t>Key influential features included:</a:t>
            </a:r>
          </a:p>
          <a:p>
            <a:pPr lvl="1"/>
            <a:r>
              <a:rPr lang="en-US" b="1" dirty="0"/>
              <a:t>experience</a:t>
            </a:r>
            <a:endParaRPr lang="en-US" dirty="0"/>
          </a:p>
          <a:p>
            <a:pPr lvl="1"/>
            <a:r>
              <a:rPr lang="en-US" b="1" dirty="0" err="1"/>
              <a:t>relevent_experience</a:t>
            </a:r>
            <a:endParaRPr lang="en-US" dirty="0"/>
          </a:p>
          <a:p>
            <a:pPr lvl="1"/>
            <a:r>
              <a:rPr lang="en-US" b="1" dirty="0" err="1"/>
              <a:t>city_development_index</a:t>
            </a:r>
            <a:endParaRPr lang="en-US" dirty="0"/>
          </a:p>
          <a:p>
            <a:pPr lvl="1"/>
            <a:r>
              <a:rPr lang="en-US" b="1" dirty="0" err="1"/>
              <a:t>last_new_job</a:t>
            </a:r>
            <a:endParaRPr lang="en-US" dirty="0"/>
          </a:p>
          <a:p>
            <a:pPr lvl="1"/>
            <a:r>
              <a:rPr lang="en-US" b="1" dirty="0" err="1"/>
              <a:t>training_hours</a:t>
            </a:r>
            <a:endParaRPr lang="en-US" dirty="0"/>
          </a:p>
          <a:p>
            <a:r>
              <a:rPr lang="en-US" dirty="0"/>
              <a:t>Feature importance helps understand </a:t>
            </a:r>
            <a:r>
              <a:rPr lang="en-US" b="1" dirty="0"/>
              <a:t>which attributes strongly impact whether an employee stays or resigns</a:t>
            </a:r>
            <a:r>
              <a:rPr lang="en-US" dirty="0"/>
              <a:t>, supporting better decision-making.</a:t>
            </a:r>
          </a:p>
          <a:p>
            <a:endParaRPr lang="en-IN" dirty="0"/>
          </a:p>
        </p:txBody>
      </p:sp>
    </p:spTree>
    <p:extLst>
      <p:ext uri="{BB962C8B-B14F-4D97-AF65-F5344CB8AC3E}">
        <p14:creationId xmlns:p14="http://schemas.microsoft.com/office/powerpoint/2010/main" val="1833139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C82A-41AC-3348-A444-3B07A820805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658EDDC-8B87-7049-CE61-8D3FF4571BC0}"/>
              </a:ext>
            </a:extLst>
          </p:cNvPr>
          <p:cNvSpPr>
            <a:spLocks noGrp="1"/>
          </p:cNvSpPr>
          <p:nvPr>
            <p:ph idx="1"/>
          </p:nvPr>
        </p:nvSpPr>
        <p:spPr>
          <a:xfrm>
            <a:off x="678882" y="1296956"/>
            <a:ext cx="6687118" cy="5103844"/>
          </a:xfrm>
        </p:spPr>
        <p:txBody>
          <a:bodyPr>
            <a:noAutofit/>
          </a:bodyPr>
          <a:lstStyle/>
          <a:p>
            <a:r>
              <a:rPr lang="en-US" sz="1400" dirty="0"/>
              <a:t>Built a complete machine learning pipeline to predict employee retention.</a:t>
            </a:r>
          </a:p>
          <a:p>
            <a:endParaRPr lang="en-US" sz="1400" dirty="0"/>
          </a:p>
          <a:p>
            <a:r>
              <a:rPr lang="en-US" sz="1400" dirty="0"/>
              <a:t>Handled data cleaning, preprocessing, feature engineering, and class imbalance effectively.</a:t>
            </a:r>
          </a:p>
          <a:p>
            <a:endParaRPr lang="en-US" sz="1400" dirty="0"/>
          </a:p>
          <a:p>
            <a:r>
              <a:rPr lang="en-US" sz="1400" dirty="0"/>
              <a:t>Trained multiple models and found </a:t>
            </a:r>
            <a:r>
              <a:rPr lang="en-US" sz="1400" dirty="0" err="1"/>
              <a:t>XGBoost</a:t>
            </a:r>
            <a:r>
              <a:rPr lang="en-US" sz="1400" dirty="0"/>
              <a:t> to give the best performance.</a:t>
            </a:r>
          </a:p>
          <a:p>
            <a:endParaRPr lang="en-US" sz="1400" dirty="0"/>
          </a:p>
          <a:p>
            <a:r>
              <a:rPr lang="en-US" sz="1400" dirty="0"/>
              <a:t>Identified key features influencing employee retention, such as experience, </a:t>
            </a:r>
            <a:r>
              <a:rPr lang="en-US" sz="1400" dirty="0" err="1"/>
              <a:t>relevent_experience</a:t>
            </a:r>
            <a:r>
              <a:rPr lang="en-US" sz="1400" dirty="0"/>
              <a:t>, and </a:t>
            </a:r>
            <a:r>
              <a:rPr lang="en-US" sz="1400" dirty="0" err="1"/>
              <a:t>city_development_index</a:t>
            </a:r>
            <a:r>
              <a:rPr lang="en-US" sz="1400" dirty="0"/>
              <a:t>.</a:t>
            </a:r>
          </a:p>
          <a:p>
            <a:endParaRPr lang="en-US" sz="1400" dirty="0"/>
          </a:p>
          <a:p>
            <a:r>
              <a:rPr lang="en-US" sz="1400" dirty="0"/>
              <a:t>Provides insights to HR teams to proactively manage employee attrition.</a:t>
            </a:r>
          </a:p>
          <a:p>
            <a:endParaRPr lang="en-US" sz="1400" dirty="0"/>
          </a:p>
          <a:p>
            <a:r>
              <a:rPr lang="en-US" sz="1400" dirty="0"/>
              <a:t>Future scope: Hyperparameter tuning, integrating with dashboards, and deploying as a real-time retention prediction tool.</a:t>
            </a:r>
          </a:p>
          <a:p>
            <a:r>
              <a:rPr lang="en-US" sz="1400" dirty="0"/>
              <a:t>Analyzed feature importance (</a:t>
            </a:r>
            <a:r>
              <a:rPr lang="en-US" sz="1400" dirty="0" err="1"/>
              <a:t>XGBoost</a:t>
            </a:r>
            <a:r>
              <a:rPr lang="en-US" sz="1400" dirty="0"/>
              <a:t>) to identify key factors influencing employee retention.</a:t>
            </a:r>
            <a:endParaRPr lang="en-IN" sz="1400" dirty="0"/>
          </a:p>
        </p:txBody>
      </p:sp>
    </p:spTree>
    <p:extLst>
      <p:ext uri="{BB962C8B-B14F-4D97-AF65-F5344CB8AC3E}">
        <p14:creationId xmlns:p14="http://schemas.microsoft.com/office/powerpoint/2010/main" val="969430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7730</TotalTime>
  <Words>1066</Words>
  <Application>Microsoft Office PowerPoint</Application>
  <PresentationFormat>Widescreen</PresentationFormat>
  <Paragraphs>157</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BIA Template</vt:lpstr>
      <vt:lpstr>PowerPoint Presentation</vt:lpstr>
      <vt:lpstr>Agenda</vt:lpstr>
      <vt:lpstr>GOAL OF THE PROJECT</vt:lpstr>
      <vt:lpstr>INTRODUCTION</vt:lpstr>
      <vt:lpstr>DATASET DESCRIPTION</vt:lpstr>
      <vt:lpstr>DATA PREPROSESSING</vt:lpstr>
      <vt:lpstr>EXPLORATORY DATA ANALYSIS</vt:lpstr>
      <vt:lpstr>FEATURE ENGINEERING</vt:lpstr>
      <vt:lpstr>TRAIN AND TEST SPLIT</vt:lpstr>
      <vt:lpstr>HANDING IMBALANCED DATA(SMOTE)</vt:lpstr>
      <vt:lpstr>FEATURE SCALING</vt:lpstr>
      <vt:lpstr>MODEL TRAINING</vt:lpstr>
      <vt:lpstr>MODEL EVALUATION</vt:lpstr>
      <vt:lpstr>FEATURE IMPORTANCE</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Apoorva Dodwad</cp:lastModifiedBy>
  <cp:revision>2260</cp:revision>
  <dcterms:created xsi:type="dcterms:W3CDTF">2020-12-23T13:36:00Z</dcterms:created>
  <dcterms:modified xsi:type="dcterms:W3CDTF">2025-12-20T06:03:26Z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